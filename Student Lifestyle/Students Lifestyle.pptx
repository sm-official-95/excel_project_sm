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FF3ABD4-FAA0-4198-B907-C9C426CB4EA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vod\Downloads\Student%20Lifestyle%20and%20AC%20Perforance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vod\Downloads\Student%20Lifestyle%20and%20AC%20Perforance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vod\Downloads\Student%20Lifestyle%20and%20AC%20Perforance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vod\Downloads\Student%20Lifestyle%20and%20AC%20Perforance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vod\Downloads\Student%20Lifestyle%20and%20AC%20Perforance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vod\Downloads\Student%20Lifestyle%20and%20AC%20Perforance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[Student Lifestyle and AC Perforance Analysis.xlsx]GPA vs Study H!PivotTable1</c:name>
    <c:fmtId val="4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Study Hours vs Performance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6"/>
            </a:fgClr>
            <a:bgClr>
              <a:schemeClr val="lt1"/>
            </a:bgClr>
          </a:pattFill>
          <a:ln>
            <a:solidFill>
              <a:sysClr val="windowText" lastClr="000000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70AD47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6"/>
            </a:fgClr>
            <a:bgClr>
              <a:schemeClr val="lt1"/>
            </a:bgClr>
          </a:pattFill>
          <a:ln>
            <a:solidFill>
              <a:sysClr val="windowText" lastClr="000000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70AD47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6"/>
            </a:fgClr>
            <a:bgClr>
              <a:schemeClr val="lt1"/>
            </a:bgClr>
          </a:pattFill>
          <a:ln>
            <a:solidFill>
              <a:sysClr val="windowText" lastClr="000000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70AD47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'GPA vs Study H'!$B$3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6"/>
              </a:fgClr>
              <a:bgClr>
                <a:schemeClr val="lt1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solidFill>
                <a:srgbClr val="70AD47">
                  <a:alpha val="7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'GPA vs Study H'!$A$4:$A$10</c:f>
              <c:strCache>
                <c:ptCount val="7"/>
                <c:pt idx="0">
                  <c:v>0-2</c:v>
                </c:pt>
                <c:pt idx="1">
                  <c:v>2-4</c:v>
                </c:pt>
                <c:pt idx="2">
                  <c:v>4-6</c:v>
                </c:pt>
                <c:pt idx="3">
                  <c:v>6-8</c:v>
                </c:pt>
                <c:pt idx="4">
                  <c:v>8-10</c:v>
                </c:pt>
                <c:pt idx="5">
                  <c:v>10-12</c:v>
                </c:pt>
                <c:pt idx="6">
                  <c:v>12-14</c:v>
                </c:pt>
              </c:strCache>
            </c:strRef>
          </c:cat>
          <c:val>
            <c:numRef>
              <c:f>'GPA vs Study H'!$B$4:$B$10</c:f>
              <c:numCache>
                <c:formatCode>0.00</c:formatCode>
                <c:ptCount val="7"/>
                <c:pt idx="0">
                  <c:v>2.8663610172859126</c:v>
                </c:pt>
                <c:pt idx="1">
                  <c:v>2.8684047389447356</c:v>
                </c:pt>
                <c:pt idx="2">
                  <c:v>2.8701720515888787</c:v>
                </c:pt>
                <c:pt idx="3">
                  <c:v>2.957418218155043</c:v>
                </c:pt>
                <c:pt idx="4">
                  <c:v>3.159774911482041</c:v>
                </c:pt>
                <c:pt idx="5">
                  <c:v>3.1842902208201878</c:v>
                </c:pt>
                <c:pt idx="6">
                  <c:v>2.93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AF-4BA7-87FF-9D66184F8F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0"/>
        <c:axId val="2114311888"/>
        <c:axId val="2114313328"/>
      </c:barChart>
      <c:catAx>
        <c:axId val="2114311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Study Hour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313328"/>
        <c:crosses val="autoZero"/>
        <c:auto val="1"/>
        <c:lblAlgn val="ctr"/>
        <c:lblOffset val="100"/>
        <c:noMultiLvlLbl val="0"/>
      </c:catAx>
      <c:valAx>
        <c:axId val="21143133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CGPA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311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6">
            <a:lumMod val="5000"/>
            <a:lumOff val="95000"/>
          </a:schemeClr>
        </a:gs>
        <a:gs pos="42000">
          <a:srgbClr val="BEDCAA"/>
        </a:gs>
        <a:gs pos="29000">
          <a:schemeClr val="accent6">
            <a:lumMod val="45000"/>
            <a:lumOff val="55000"/>
          </a:schemeClr>
        </a:gs>
        <a:gs pos="60000">
          <a:schemeClr val="accent6">
            <a:lumMod val="84000"/>
            <a:lumOff val="16000"/>
          </a:schemeClr>
        </a:gs>
        <a:gs pos="100000">
          <a:schemeClr val="accent6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accent6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[Student Lifestyle and AC Perforance Analysis.xlsx]Social media vs GPA!PivotTable2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Social Media Usage vs Grades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6"/>
            </a:fgClr>
            <a:bgClr>
              <a:schemeClr val="lt1"/>
            </a:bgClr>
          </a:pattFill>
          <a:ln>
            <a:solidFill>
              <a:sysClr val="windowText" lastClr="000000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70AD47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UpDiag">
            <a:fgClr>
              <a:schemeClr val="accent6"/>
            </a:fgClr>
            <a:bgClr>
              <a:schemeClr val="lt1"/>
            </a:bgClr>
          </a:pattFill>
          <a:ln>
            <a:solidFill>
              <a:sysClr val="windowText" lastClr="000000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70AD47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ltUpDiag">
            <a:fgClr>
              <a:schemeClr val="accent6"/>
            </a:fgClr>
            <a:bgClr>
              <a:schemeClr val="lt1"/>
            </a:bgClr>
          </a:pattFill>
          <a:ln>
            <a:solidFill>
              <a:sysClr val="windowText" lastClr="000000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70AD47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'Social media vs GPA'!$E$2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6"/>
              </a:fgClr>
              <a:bgClr>
                <a:schemeClr val="lt1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solidFill>
                <a:srgbClr val="70AD47">
                  <a:alpha val="7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'Social media vs GPA'!$D$3:$D$8</c:f>
              <c:strCache>
                <c:ptCount val="6"/>
                <c:pt idx="0">
                  <c:v>0-2</c:v>
                </c:pt>
                <c:pt idx="1">
                  <c:v>2-4</c:v>
                </c:pt>
                <c:pt idx="2">
                  <c:v>4-6</c:v>
                </c:pt>
                <c:pt idx="3">
                  <c:v>6-8</c:v>
                </c:pt>
                <c:pt idx="4">
                  <c:v>8-10</c:v>
                </c:pt>
                <c:pt idx="5">
                  <c:v>10-12</c:v>
                </c:pt>
              </c:strCache>
            </c:strRef>
          </c:cat>
          <c:val>
            <c:numRef>
              <c:f>'Social media vs GPA'!$E$3:$E$8</c:f>
              <c:numCache>
                <c:formatCode>0.00</c:formatCode>
                <c:ptCount val="6"/>
                <c:pt idx="0">
                  <c:v>2.9339299920445594</c:v>
                </c:pt>
                <c:pt idx="1">
                  <c:v>2.9253094831268514</c:v>
                </c:pt>
                <c:pt idx="2">
                  <c:v>2.8694042229985963</c:v>
                </c:pt>
                <c:pt idx="3">
                  <c:v>2.7322374429223748</c:v>
                </c:pt>
                <c:pt idx="4">
                  <c:v>2.8188732394366194</c:v>
                </c:pt>
                <c:pt idx="5">
                  <c:v>2.09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75-41F6-A4D6-C4ACFCE1D5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17"/>
        <c:axId val="990829952"/>
        <c:axId val="990828992"/>
      </c:barChart>
      <c:catAx>
        <c:axId val="9908299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Social Media Hour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828992"/>
        <c:crosses val="autoZero"/>
        <c:auto val="1"/>
        <c:lblAlgn val="ctr"/>
        <c:lblOffset val="100"/>
        <c:noMultiLvlLbl val="0"/>
      </c:catAx>
      <c:valAx>
        <c:axId val="990828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CGPA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829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6">
            <a:lumMod val="5000"/>
            <a:lumOff val="95000"/>
          </a:schemeClr>
        </a:gs>
        <a:gs pos="36000">
          <a:schemeClr val="accent6">
            <a:lumMod val="45000"/>
            <a:lumOff val="55000"/>
          </a:schemeClr>
        </a:gs>
        <a:gs pos="53000">
          <a:schemeClr val="accent6">
            <a:lumMod val="45000"/>
            <a:lumOff val="55000"/>
          </a:schemeClr>
        </a:gs>
        <a:gs pos="88000">
          <a:schemeClr val="accent6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accent6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[Student Lifestyle and AC Perforance Analysis.xlsx]Sleep vs Stress!PivotTable3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Sleep Hours vs Stress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6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6"/>
            </a:outerShdw>
          </a:effectLst>
        </c:spPr>
        <c:marker>
          <c:symbol val="circle"/>
          <c:size val="14"/>
          <c:spPr>
            <a:solidFill>
              <a:schemeClr val="accent6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70AD47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6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6"/>
            </a:outerShdw>
          </a:effectLst>
        </c:spPr>
        <c:marker>
          <c:symbol val="circle"/>
          <c:size val="14"/>
          <c:spPr>
            <a:solidFill>
              <a:schemeClr val="accent6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70AD47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6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6"/>
            </a:outerShdw>
          </a:effectLst>
        </c:spPr>
        <c:marker>
          <c:symbol val="circle"/>
          <c:size val="14"/>
          <c:spPr>
            <a:solidFill>
              <a:schemeClr val="accent6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70AD47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'Sleep vs Stress'!$E$4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6"/>
              </a:outerShdw>
            </a:effectLst>
          </c:spPr>
          <c:marker>
            <c:symbol val="circle"/>
            <c:size val="14"/>
            <c:spPr>
              <a:solidFill>
                <a:schemeClr val="accent6"/>
              </a:solidFill>
              <a:ln>
                <a:noFill/>
              </a:ln>
              <a:effectLst/>
            </c:spPr>
          </c:marker>
          <c:dLbls>
            <c:spPr>
              <a:solidFill>
                <a:srgbClr val="70AD47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'Sleep vs Stress'!$D$5:$D$13</c:f>
              <c:strCache>
                <c:ptCount val="9"/>
                <c:pt idx="0">
                  <c:v>3-4</c:v>
                </c:pt>
                <c:pt idx="1">
                  <c:v>4-5</c:v>
                </c:pt>
                <c:pt idx="2">
                  <c:v>5-6</c:v>
                </c:pt>
                <c:pt idx="3">
                  <c:v>6-7</c:v>
                </c:pt>
                <c:pt idx="4">
                  <c:v>7-8</c:v>
                </c:pt>
                <c:pt idx="5">
                  <c:v>8-9</c:v>
                </c:pt>
                <c:pt idx="6">
                  <c:v>9-10</c:v>
                </c:pt>
                <c:pt idx="7">
                  <c:v>10-11</c:v>
                </c:pt>
                <c:pt idx="8">
                  <c:v>11-12</c:v>
                </c:pt>
              </c:strCache>
            </c:strRef>
          </c:cat>
          <c:val>
            <c:numRef>
              <c:f>'Sleep vs Stress'!$E$5:$E$13</c:f>
              <c:numCache>
                <c:formatCode>0.00</c:formatCode>
                <c:ptCount val="9"/>
                <c:pt idx="0">
                  <c:v>6.4440804866635473</c:v>
                </c:pt>
                <c:pt idx="1">
                  <c:v>6.4216646266829862</c:v>
                </c:pt>
                <c:pt idx="2">
                  <c:v>3.9306114625263562</c:v>
                </c:pt>
                <c:pt idx="3">
                  <c:v>3.9161696217011195</c:v>
                </c:pt>
                <c:pt idx="4">
                  <c:v>3.9014792185867031</c:v>
                </c:pt>
                <c:pt idx="5">
                  <c:v>3.911093721784145</c:v>
                </c:pt>
                <c:pt idx="6">
                  <c:v>3.9196097292840455</c:v>
                </c:pt>
                <c:pt idx="7">
                  <c:v>3.9050025265285497</c:v>
                </c:pt>
                <c:pt idx="8">
                  <c:v>3.8980044345898004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B4-4A89-879D-D6A8C545B4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dropLines>
        <c:marker val="1"/>
        <c:smooth val="0"/>
        <c:axId val="2114316208"/>
        <c:axId val="2114314288"/>
      </c:lineChart>
      <c:catAx>
        <c:axId val="2114316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Sleep Hour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314288"/>
        <c:crosses val="autoZero"/>
        <c:auto val="1"/>
        <c:lblAlgn val="ctr"/>
        <c:lblOffset val="100"/>
        <c:noMultiLvlLbl val="0"/>
      </c:catAx>
      <c:valAx>
        <c:axId val="2114314288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Stress Level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crossAx val="2114316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4000">
          <a:schemeClr val="accent6">
            <a:lumMod val="5000"/>
            <a:lumOff val="95000"/>
          </a:schemeClr>
        </a:gs>
        <a:gs pos="31000">
          <a:schemeClr val="accent6">
            <a:lumMod val="45000"/>
            <a:lumOff val="55000"/>
          </a:schemeClr>
        </a:gs>
        <a:gs pos="84000">
          <a:schemeClr val="accent6">
            <a:lumMod val="45000"/>
            <a:lumOff val="55000"/>
          </a:schemeClr>
        </a:gs>
        <a:gs pos="19000">
          <a:schemeClr val="accent6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[Student Lifestyle and AC Perforance Analysis.xlsx]Physical Activity vs Strass!PivotTable6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Physical Activity vs Stress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6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6"/>
            </a:outerShdw>
          </a:effectLst>
        </c:spPr>
        <c:marker>
          <c:symbol val="circle"/>
          <c:size val="5"/>
          <c:spPr>
            <a:solidFill>
              <a:schemeClr val="accent6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6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6"/>
            </a:outerShdw>
          </a:effectLst>
        </c:spPr>
        <c:marker>
          <c:symbol val="circle"/>
          <c:size val="5"/>
          <c:spPr>
            <a:solidFill>
              <a:schemeClr val="accent6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6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6"/>
            </a:outerShdw>
          </a:effectLst>
        </c:spPr>
        <c:marker>
          <c:symbol val="circle"/>
          <c:size val="5"/>
          <c:spPr>
            <a:solidFill>
              <a:schemeClr val="accent6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'Physical Activity vs Strass'!$F$3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6"/>
              </a:outerShdw>
            </a:effectLst>
          </c:spPr>
          <c:marker>
            <c:symbol val="circle"/>
            <c:size val="5"/>
            <c:spPr>
              <a:solidFill>
                <a:schemeClr val="accent6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'Physical Activity vs Strass'!$E$4:$E$18</c:f>
              <c:strCache>
                <c:ptCount val="15"/>
                <c:pt idx="0">
                  <c:v>0-9</c:v>
                </c:pt>
                <c:pt idx="1">
                  <c:v>10-19</c:v>
                </c:pt>
                <c:pt idx="2">
                  <c:v>20-29</c:v>
                </c:pt>
                <c:pt idx="3">
                  <c:v>30-39</c:v>
                </c:pt>
                <c:pt idx="4">
                  <c:v>40-49</c:v>
                </c:pt>
                <c:pt idx="5">
                  <c:v>50-59</c:v>
                </c:pt>
                <c:pt idx="6">
                  <c:v>60-69</c:v>
                </c:pt>
                <c:pt idx="7">
                  <c:v>70-79</c:v>
                </c:pt>
                <c:pt idx="8">
                  <c:v>80-89</c:v>
                </c:pt>
                <c:pt idx="9">
                  <c:v>90-99</c:v>
                </c:pt>
                <c:pt idx="10">
                  <c:v>100-109</c:v>
                </c:pt>
                <c:pt idx="11">
                  <c:v>110-119</c:v>
                </c:pt>
                <c:pt idx="12">
                  <c:v>120-129</c:v>
                </c:pt>
                <c:pt idx="13">
                  <c:v>130-139</c:v>
                </c:pt>
                <c:pt idx="14">
                  <c:v>140-149</c:v>
                </c:pt>
              </c:strCache>
            </c:strRef>
          </c:cat>
          <c:val>
            <c:numRef>
              <c:f>'Physical Activity vs Strass'!$F$4:$F$18</c:f>
              <c:numCache>
                <c:formatCode>0.00</c:formatCode>
                <c:ptCount val="15"/>
                <c:pt idx="0">
                  <c:v>4.7112634088200238</c:v>
                </c:pt>
                <c:pt idx="1">
                  <c:v>4.7214740269350299</c:v>
                </c:pt>
                <c:pt idx="2">
                  <c:v>4.7290632987520675</c:v>
                </c:pt>
                <c:pt idx="3">
                  <c:v>4.7349771150155027</c:v>
                </c:pt>
                <c:pt idx="4">
                  <c:v>4.7413230495401955</c:v>
                </c:pt>
                <c:pt idx="5">
                  <c:v>4.7460819770946356</c:v>
                </c:pt>
                <c:pt idx="6">
                  <c:v>3.8184166540039506</c:v>
                </c:pt>
                <c:pt idx="7">
                  <c:v>3.7090608067429258</c:v>
                </c:pt>
                <c:pt idx="8">
                  <c:v>3.7234204131227218</c:v>
                </c:pt>
                <c:pt idx="9">
                  <c:v>3.7058374083129584</c:v>
                </c:pt>
                <c:pt idx="10">
                  <c:v>3.7196066746126339</c:v>
                </c:pt>
                <c:pt idx="11">
                  <c:v>3.7288620949510172</c:v>
                </c:pt>
                <c:pt idx="12">
                  <c:v>3.7159772182254196</c:v>
                </c:pt>
                <c:pt idx="13">
                  <c:v>3.7133919261135109</c:v>
                </c:pt>
                <c:pt idx="14">
                  <c:v>3.7162853702588801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3E-4C87-98F8-BB56D3EF08B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dropLines>
        <c:marker val="1"/>
        <c:smooth val="0"/>
        <c:axId val="2114307088"/>
        <c:axId val="2114307568"/>
      </c:lineChart>
      <c:catAx>
        <c:axId val="21143070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Physical Activity (Min/Day)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307568"/>
        <c:crosses val="autoZero"/>
        <c:auto val="1"/>
        <c:lblAlgn val="ctr"/>
        <c:lblOffset val="100"/>
        <c:noMultiLvlLbl val="0"/>
      </c:catAx>
      <c:valAx>
        <c:axId val="21143075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Stress Level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307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6">
            <a:lumMod val="5000"/>
            <a:lumOff val="95000"/>
          </a:schemeClr>
        </a:gs>
        <a:gs pos="74000">
          <a:schemeClr val="accent6">
            <a:lumMod val="45000"/>
            <a:lumOff val="55000"/>
          </a:schemeClr>
        </a:gs>
        <a:gs pos="24000">
          <a:schemeClr val="accent6">
            <a:lumMod val="45000"/>
            <a:lumOff val="55000"/>
          </a:schemeClr>
        </a:gs>
        <a:gs pos="8000">
          <a:schemeClr val="accent6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accent6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 Lifestyle and AC Perforance Analysis.xlsx]Depression Status !PivotTable10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Depression Status (TRUE vs FALSE)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50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rgbClr val="C00000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050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rgbClr val="C00000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B050"/>
          </a:solidFill>
          <a:ln w="19050">
            <a:solidFill>
              <a:schemeClr val="bg1"/>
            </a:solidFill>
          </a:ln>
          <a:effectLst/>
        </c:spPr>
      </c:pivotFmt>
      <c:pivotFmt>
        <c:idx val="8"/>
        <c:spPr>
          <a:solidFill>
            <a:srgbClr val="C00000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00B050"/>
          </a:solidFill>
          <a:ln w="19050">
            <a:solidFill>
              <a:schemeClr val="bg1"/>
            </a:solidFill>
          </a:ln>
          <a:effectLst/>
        </c:spPr>
      </c:pivotFmt>
      <c:pivotFmt>
        <c:idx val="11"/>
        <c:spPr>
          <a:solidFill>
            <a:srgbClr val="C00000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00B050"/>
          </a:solidFill>
          <a:ln w="19050">
            <a:solidFill>
              <a:schemeClr val="bg1"/>
            </a:solidFill>
          </a:ln>
          <a:effectLst/>
        </c:spPr>
      </c:pivotFmt>
      <c:pivotFmt>
        <c:idx val="14"/>
        <c:spPr>
          <a:solidFill>
            <a:srgbClr val="C00000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'Depression Status '!$B$3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explosion val="5"/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BC-4921-A920-23A03780F396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BC-4921-A920-23A03780F3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'Depression Status '!$A$4:$A$5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'Depression Status '!$B$4:$B$5</c:f>
              <c:numCache>
                <c:formatCode>General</c:formatCode>
                <c:ptCount val="2"/>
                <c:pt idx="0">
                  <c:v>89938</c:v>
                </c:pt>
                <c:pt idx="1">
                  <c:v>10062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BC-4921-A920-23A03780F39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6">
            <a:lumMod val="5000"/>
            <a:lumOff val="95000"/>
          </a:schemeClr>
        </a:gs>
        <a:gs pos="61000">
          <a:schemeClr val="accent6">
            <a:lumMod val="45000"/>
            <a:lumOff val="55000"/>
          </a:schemeClr>
        </a:gs>
        <a:gs pos="19000">
          <a:schemeClr val="accent6">
            <a:lumMod val="45000"/>
            <a:lumOff val="55000"/>
          </a:schemeClr>
        </a:gs>
        <a:gs pos="100000">
          <a:schemeClr val="accent6">
            <a:lumMod val="30000"/>
            <a:lumOff val="70000"/>
          </a:schemeClr>
        </a:gs>
      </a:gsLst>
      <a:lin ang="5400000" scaled="1"/>
    </a:gra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[Student Lifestyle and AC Perforance Analysis.xlsx]Performance Categories!PivotTable8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IN"/>
              <a:t>Student Performance Categories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</c:pivotFmt>
      <c:pivotFmt>
        <c:idx val="5"/>
      </c:pivotFmt>
      <c:pivotFmt>
        <c:idx val="6"/>
        <c:spPr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0">
                <a:schemeClr val="accent6"/>
              </a:gs>
            </a:gsLst>
            <a:lin ang="5400000" scaled="0"/>
          </a:gra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CC0000"/>
          </a:solidFill>
          <a:ln w="19050">
            <a:noFill/>
          </a:ln>
          <a:effectLst/>
        </c:spPr>
      </c:pivotFmt>
      <c:pivotFmt>
        <c:idx val="8"/>
        <c:spPr>
          <a:solidFill>
            <a:srgbClr val="FFFF00"/>
          </a:solidFill>
          <a:ln w="19050">
            <a:noFill/>
          </a:ln>
          <a:effectLst/>
        </c:spPr>
      </c:pivotFmt>
      <c:pivotFmt>
        <c:idx val="9"/>
        <c:spPr>
          <a:solidFill>
            <a:schemeClr val="accent1"/>
          </a:solidFill>
          <a:ln w="19050">
            <a:noFill/>
          </a:ln>
          <a:effectLst/>
        </c:spPr>
      </c:pivotFmt>
      <c:pivotFmt>
        <c:idx val="10"/>
        <c:spPr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0">
                <a:schemeClr val="accent6"/>
              </a:gs>
            </a:gsLst>
            <a:lin ang="5400000" scaled="0"/>
          </a:gra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CC0000"/>
          </a:solidFill>
          <a:ln w="19050">
            <a:noFill/>
          </a:ln>
          <a:effectLst/>
        </c:spPr>
      </c:pivotFmt>
      <c:pivotFmt>
        <c:idx val="12"/>
        <c:spPr>
          <a:solidFill>
            <a:srgbClr val="FFFF00"/>
          </a:solidFill>
          <a:ln w="19050">
            <a:noFill/>
          </a:ln>
          <a:effectLst/>
        </c:spPr>
      </c:pivotFmt>
      <c:pivotFmt>
        <c:idx val="13"/>
        <c:spPr>
          <a:solidFill>
            <a:schemeClr val="accent1"/>
          </a:solidFill>
          <a:ln w="19050">
            <a:noFill/>
          </a:ln>
          <a:effectLst/>
        </c:spPr>
      </c:pivotFmt>
      <c:pivotFmt>
        <c:idx val="14"/>
        <c:spPr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0">
                <a:schemeClr val="accent6"/>
              </a:gs>
            </a:gsLst>
            <a:lin ang="5400000" scaled="0"/>
          </a:gra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CC0000"/>
          </a:solidFill>
          <a:ln w="19050">
            <a:noFill/>
          </a:ln>
          <a:effectLst/>
        </c:spPr>
      </c:pivotFmt>
      <c:pivotFmt>
        <c:idx val="16"/>
        <c:spPr>
          <a:solidFill>
            <a:srgbClr val="FFFF00"/>
          </a:solidFill>
          <a:ln w="19050">
            <a:noFill/>
          </a:ln>
          <a:effectLst/>
        </c:spPr>
      </c:pivotFmt>
      <c:pivotFmt>
        <c:idx val="17"/>
        <c:spPr>
          <a:solidFill>
            <a:schemeClr val="accent1"/>
          </a:solidFill>
          <a:ln w="19050">
            <a:noFill/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'Performance Categories'!$B$3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explosion val="4"/>
            <c:spPr>
              <a:solidFill>
                <a:srgbClr val="CC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827-4E12-B175-6387EB16D5D3}"/>
              </c:ext>
            </c:extLst>
          </c:dPt>
          <c:dPt>
            <c:idx val="1"/>
            <c:bubble3D val="0"/>
            <c:explosion val="3"/>
            <c:spPr>
              <a:solidFill>
                <a:srgbClr val="FFFF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827-4E12-B175-6387EB16D5D3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827-4E12-B175-6387EB16D5D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'Performance Categories'!$A$4:$A$6</c:f>
              <c:strCache>
                <c:ptCount val="3"/>
                <c:pt idx="0">
                  <c:v>At Risk</c:v>
                </c:pt>
                <c:pt idx="1">
                  <c:v>Average Performer</c:v>
                </c:pt>
                <c:pt idx="2">
                  <c:v>High Performer</c:v>
                </c:pt>
              </c:strCache>
            </c:strRef>
          </c:cat>
          <c:val>
            <c:numRef>
              <c:f>'Performance Categories'!$B$4:$B$6</c:f>
              <c:numCache>
                <c:formatCode>General</c:formatCode>
                <c:ptCount val="3"/>
                <c:pt idx="0">
                  <c:v>55349</c:v>
                </c:pt>
                <c:pt idx="1">
                  <c:v>44178</c:v>
                </c:pt>
                <c:pt idx="2">
                  <c:v>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27-4E12-B175-6387EB16D5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440736655660585"/>
          <c:y val="0.41604481481481481"/>
          <c:w val="0.26879804451857658"/>
          <c:h val="0.26512445137705709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6">
            <a:lumMod val="5000"/>
            <a:lumOff val="95000"/>
          </a:schemeClr>
        </a:gs>
        <a:gs pos="25000">
          <a:schemeClr val="accent6">
            <a:lumMod val="45000"/>
            <a:lumOff val="55000"/>
          </a:schemeClr>
        </a:gs>
        <a:gs pos="83000">
          <a:schemeClr val="accent6">
            <a:lumMod val="45000"/>
            <a:lumOff val="55000"/>
          </a:schemeClr>
        </a:gs>
        <a:gs pos="50000">
          <a:schemeClr val="accent6">
            <a:lumMod val="30000"/>
            <a:lumOff val="70000"/>
          </a:schemeClr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6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97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217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3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80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71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069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5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72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80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49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2122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39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9941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406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823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27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10620-D95B-4F44-8FB9-4185060977BE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49D392E-737D-4170-8486-AB45D7794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54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8EC1-5024-CC4C-6AAD-9E296ECB9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Student Lifestyle &amp; Academic Performance Analysis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C2906-4F2E-7D50-B616-5FDC7D3513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Excel-based analytical project to understand how lifestyle factors impact academic outcomes.</a:t>
            </a:r>
            <a:br>
              <a:rPr lang="en-US" dirty="0"/>
            </a:br>
            <a:r>
              <a:rPr lang="en-US" dirty="0"/>
              <a:t>Dataset: Student Lifestyle Dataset (100,000 records)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13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52110-DEFF-2837-18E4-4FF14F8A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Problem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A2817-702C-8486-9A35-E3BC44466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Institutions lack data-driven insights into how study habits, sleep, stress, physical activity, and mental health influence academic performance.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0049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5A1D-581F-6462-E824-52254921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KPIs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4BF98-8553-2592-96F1-EEDA1356F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1. Average CGPA: 2.90</a:t>
            </a:r>
            <a:br>
              <a:rPr lang="en-US" sz="2400" dirty="0"/>
            </a:br>
            <a:r>
              <a:rPr lang="en-US" sz="2400" dirty="0"/>
              <a:t>2. Average Study Hours: 4.51 </a:t>
            </a:r>
            <a:r>
              <a:rPr lang="en-US" sz="2400" dirty="0" err="1"/>
              <a:t>hrs</a:t>
            </a:r>
            <a:r>
              <a:rPr lang="en-US" sz="2400" dirty="0"/>
              <a:t>/day</a:t>
            </a:r>
            <a:br>
              <a:rPr lang="en-US" sz="2400" dirty="0"/>
            </a:br>
            <a:r>
              <a:rPr lang="en-US" sz="2400" dirty="0"/>
              <a:t>3. Average Sleep Hours: 7 </a:t>
            </a:r>
            <a:r>
              <a:rPr lang="en-US" sz="2400" dirty="0" err="1"/>
              <a:t>hrs</a:t>
            </a:r>
            <a:r>
              <a:rPr lang="en-US" sz="2400" dirty="0"/>
              <a:t>/day</a:t>
            </a:r>
            <a:br>
              <a:rPr lang="en-US" sz="2400" dirty="0"/>
            </a:br>
            <a:r>
              <a:rPr lang="en-US" sz="2400" dirty="0"/>
              <a:t>4. Average Physical Activity: 3.5 </a:t>
            </a:r>
            <a:r>
              <a:rPr lang="en-US" sz="2400" dirty="0" err="1"/>
              <a:t>hrs</a:t>
            </a:r>
            <a:r>
              <a:rPr lang="en-US" sz="2400" dirty="0"/>
              <a:t>/day</a:t>
            </a:r>
            <a:br>
              <a:rPr lang="en-US" sz="2400" dirty="0"/>
            </a:br>
            <a:r>
              <a:rPr lang="en-US" sz="2400" dirty="0"/>
              <a:t>5. At-Risk Students: 55%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8049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762B-96A6-8286-A860-38B6555D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956618"/>
            <a:ext cx="3854528" cy="820451"/>
          </a:xfrm>
        </p:spPr>
        <p:txBody>
          <a:bodyPr>
            <a:noAutofit/>
          </a:bodyPr>
          <a:lstStyle/>
          <a:p>
            <a:r>
              <a:rPr lang="en-US" sz="2400" dirty="0"/>
              <a:t>Key Insight 1: Study Hours vs Performance</a:t>
            </a:r>
            <a:endParaRPr lang="en-I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4BA35-4A8A-82D1-7C23-39EE61619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3111365"/>
            <a:ext cx="3854528" cy="2584449"/>
          </a:xfrm>
        </p:spPr>
        <p:txBody>
          <a:bodyPr>
            <a:normAutofit/>
          </a:bodyPr>
          <a:lstStyle/>
          <a:p>
            <a:r>
              <a:rPr lang="en-US" sz="1800" dirty="0"/>
              <a:t>Moderate study duration (10-12 hours/day) results in the highest CGPA.</a:t>
            </a:r>
            <a:br>
              <a:rPr lang="en-US" sz="1800" dirty="0"/>
            </a:br>
            <a:r>
              <a:rPr lang="en-US" sz="1800" dirty="0"/>
              <a:t>Excessive or insufficient study hours show diminishing returns.</a:t>
            </a:r>
            <a:endParaRPr lang="en-IN" sz="1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82B0F2D-D562-4BFD-B5B4-C2432E1B5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623305"/>
              </p:ext>
            </p:extLst>
          </p:nvPr>
        </p:nvGraphicFramePr>
        <p:xfrm>
          <a:off x="4760912" y="1425677"/>
          <a:ext cx="4766545" cy="3903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475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45AC-C515-F582-3AEC-6CB74F82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Key Insight 2: Social Media Usage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F75AE-588C-F5B0-6CCA-C17CCC0B8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Higher social media usage correlates with lower CGPA.</a:t>
            </a:r>
          </a:p>
          <a:p>
            <a:r>
              <a:rPr lang="en-US" sz="1800" dirty="0"/>
              <a:t>Students using social media less than 4 hours/day perform better academically.</a:t>
            </a:r>
            <a:endParaRPr lang="en-IN" sz="1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36C143E-D805-42E3-B00F-EEE637C732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4189879"/>
              </p:ext>
            </p:extLst>
          </p:nvPr>
        </p:nvGraphicFramePr>
        <p:xfrm>
          <a:off x="4780578" y="1498604"/>
          <a:ext cx="4796042" cy="3862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4567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F50D-F3E4-3979-CBFD-DFD5971D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Key Insight 3: Sleep Hours vs Stress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3B8FF-31E1-36F4-F9A3-3A5D6F68B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Students sleeping less than 5 hours experience significantly higher stress.</a:t>
            </a:r>
          </a:p>
          <a:p>
            <a:r>
              <a:rPr lang="en-US" sz="1800" dirty="0"/>
              <a:t>Optimal sleep range is 7-8 hours/day.</a:t>
            </a:r>
            <a:endParaRPr lang="en-IN" sz="1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8E98DE4-D6AB-4A32-BFBE-356800FAE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311516"/>
              </p:ext>
            </p:extLst>
          </p:nvPr>
        </p:nvGraphicFramePr>
        <p:xfrm>
          <a:off x="4680155" y="1335106"/>
          <a:ext cx="4847304" cy="4026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9835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714C-2A3E-D6F3-7668-31B83FF7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87794"/>
            <a:ext cx="3658692" cy="889276"/>
          </a:xfrm>
        </p:spPr>
        <p:txBody>
          <a:bodyPr>
            <a:normAutofit/>
          </a:bodyPr>
          <a:lstStyle/>
          <a:p>
            <a:r>
              <a:rPr lang="en-US" sz="2400" dirty="0"/>
              <a:t>Key Insight 4: Physical Activity vs Stress</a:t>
            </a:r>
            <a:endParaRPr lang="en-I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289CE-98F3-9A09-1F5F-57FC8F9C8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3116826"/>
            <a:ext cx="3658692" cy="2244692"/>
          </a:xfrm>
        </p:spPr>
        <p:txBody>
          <a:bodyPr>
            <a:normAutofit/>
          </a:bodyPr>
          <a:lstStyle/>
          <a:p>
            <a:r>
              <a:rPr lang="en-US" sz="1800" dirty="0"/>
              <a:t>Moderate physical activity (60-120 minutes/day) leads to lower stress.</a:t>
            </a:r>
          </a:p>
          <a:p>
            <a:r>
              <a:rPr lang="en-US" sz="1800" dirty="0"/>
              <a:t>Very low activity correlates with high stress levels.</a:t>
            </a:r>
            <a:endParaRPr lang="en-IN" sz="1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DE1928-9CA9-489E-A0B6-EDF5356A9F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287841"/>
              </p:ext>
            </p:extLst>
          </p:nvPr>
        </p:nvGraphicFramePr>
        <p:xfrm>
          <a:off x="4424517" y="1603197"/>
          <a:ext cx="5820696" cy="3651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2110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8A537-D545-18D8-C859-67BE1554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Key Insight 5: Mental Health Status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EADDF-ADA0-AF0D-2B3F-15D879BC9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Approximately 10% of students show depression indicators.</a:t>
            </a:r>
          </a:p>
          <a:p>
            <a:r>
              <a:rPr lang="en-US" sz="1800" dirty="0"/>
              <a:t>Depression is more prevalent among high-stress and low-performing students.</a:t>
            </a:r>
            <a:endParaRPr lang="en-IN" sz="1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1DDF38-D94F-428A-B38A-ED126181A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850083"/>
              </p:ext>
            </p:extLst>
          </p:nvPr>
        </p:nvGraphicFramePr>
        <p:xfrm>
          <a:off x="4760913" y="1415845"/>
          <a:ext cx="4513262" cy="3873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422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6503-0AEB-656B-6796-C1183985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Key Insight 6: </a:t>
            </a:r>
            <a:r>
              <a:rPr lang="en-IN" sz="2400" b="1" dirty="0"/>
              <a:t>Student Performance Distribution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B8001-253C-D7A7-7C0B-494A99580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b="1" dirty="0"/>
              <a:t>largest segment is “At Risk”</a:t>
            </a:r>
            <a:r>
              <a:rPr lang="en-US" sz="1800" dirty="0"/>
              <a:t>, showing that </a:t>
            </a:r>
            <a:r>
              <a:rPr lang="en-US" sz="1800" b="1" dirty="0"/>
              <a:t>more than half of the students</a:t>
            </a:r>
            <a:r>
              <a:rPr lang="en-US" sz="1800" dirty="0"/>
              <a:t> have a CGPA below 3.0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significant portion falls under </a:t>
            </a:r>
            <a:r>
              <a:rPr lang="en-US" sz="1800" b="1" dirty="0"/>
              <a:t>Average Performer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Only a </a:t>
            </a:r>
            <a:r>
              <a:rPr lang="en-US" sz="1800" b="1" dirty="0"/>
              <a:t>very small percentage</a:t>
            </a:r>
            <a:r>
              <a:rPr lang="en-US" sz="1800" dirty="0"/>
              <a:t> of students qualify as </a:t>
            </a:r>
            <a:r>
              <a:rPr lang="en-US" sz="1800" b="1" dirty="0"/>
              <a:t>High Performers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This clearly indicates an </a:t>
            </a:r>
            <a:r>
              <a:rPr lang="en-US" sz="1800" b="1" dirty="0"/>
              <a:t>overall academic performance challenge</a:t>
            </a:r>
            <a:r>
              <a:rPr lang="en-US" sz="1800" dirty="0"/>
              <a:t>.</a:t>
            </a:r>
          </a:p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1A6ECC-D2A3-436B-B2AC-8D22A0DF0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9490700"/>
              </p:ext>
            </p:extLst>
          </p:nvPr>
        </p:nvGraphicFramePr>
        <p:xfrm>
          <a:off x="5053780" y="1127793"/>
          <a:ext cx="4358046" cy="4319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0872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4EEC-8FDC-190F-F065-D69E4C9A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DDFBE-3F02-F81D-341B-789433A5B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Lifestyle balance is critical.</a:t>
            </a:r>
          </a:p>
          <a:p>
            <a:r>
              <a:rPr lang="en-US" sz="2400" dirty="0"/>
              <a:t>Stress, sleep, and physical activity indirectly influence academic success.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3252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4D31-ABC0-2719-C807-DAC49C69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AEEFC-C73F-6C61-1E84-C0582496F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data-driven lifestyle intervention strategy can significantly improve academic outcomes and student well-being.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203928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531</TotalTime>
  <Words>395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Student Lifestyle &amp; Academic Performance Analysis </vt:lpstr>
      <vt:lpstr>Business Problem </vt:lpstr>
      <vt:lpstr>Key KPIs </vt:lpstr>
      <vt:lpstr>Key Insight 1: Study Hours vs Performance</vt:lpstr>
      <vt:lpstr>Key Insight 2: Social Media Usage </vt:lpstr>
      <vt:lpstr>Key Insight 3: Sleep Hours vs Stress </vt:lpstr>
      <vt:lpstr>Key Insight 4: Physical Activity vs Stress</vt:lpstr>
      <vt:lpstr>Key Insight 5: Mental Health Status </vt:lpstr>
      <vt:lpstr>Key Insight 6: Student Performance Distribution </vt:lpstr>
      <vt:lpstr>Overall Findings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Suvodip Mistry</dc:creator>
  <cp:lastModifiedBy>Suvodip Mistry</cp:lastModifiedBy>
  <cp:revision>1</cp:revision>
  <dcterms:created xsi:type="dcterms:W3CDTF">2026-01-12T20:35:45Z</dcterms:created>
  <dcterms:modified xsi:type="dcterms:W3CDTF">2026-01-13T05:27:26Z</dcterms:modified>
</cp:coreProperties>
</file>