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%20Analytics\New%20folder\Projects\Excel\2.%20Coffee_Shop\Coffee_Shop_Sa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Data%20Analytics\New%20folder\Projects\Excel\2.%20Coffee_Shop\Coffee_Shop_Sale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Data%20Analytics\New%20folder\Projects\Excel\2.%20Coffee_Shop\Coffee_Shop_Sale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Data%20Analytics\New%20folder\Projects\Excel\2.%20Coffee_Shop\Coffee_Shop_Sale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Data%20Analytics\New%20folder\Projects\Excel\2.%20Coffee_Shop\Coffee_Shop_Sale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Data%20Analytics\New%20folder\Projects\Excel\2.%20Coffee_Shop\Coffee_Shop_Sa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[Coffee_Shop_Sale.xlsx]Pivot!PivotTable1</c:name>
    <c:fmtId val="3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Quantity Ordered Based on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38220F"/>
            </a:solidFill>
            <a:round/>
          </a:ln>
          <a:effectLst/>
        </c:spPr>
        <c:marker>
          <c:symbol val="circle"/>
          <c:size val="5"/>
          <c:spPr>
            <a:solidFill>
              <a:srgbClr val="38220F"/>
            </a:solidFill>
            <a:ln w="9525">
              <a:solidFill>
                <a:srgbClr val="38220F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38220F"/>
            </a:solidFill>
            <a:round/>
          </a:ln>
          <a:effectLst/>
        </c:spPr>
        <c:marker>
          <c:symbol val="circle"/>
          <c:size val="5"/>
          <c:spPr>
            <a:solidFill>
              <a:srgbClr val="38220F"/>
            </a:solidFill>
            <a:ln w="9525">
              <a:solidFill>
                <a:srgbClr val="38220F"/>
              </a:solidFill>
              <a:round/>
            </a:ln>
            <a:effectLst/>
          </c:spPr>
        </c:marker>
      </c:pivotFmt>
      <c:pivotFmt>
        <c:idx val="4"/>
        <c:spPr>
          <a:solidFill>
            <a:schemeClr val="accent1"/>
          </a:solidFill>
          <a:ln w="28575" cap="rnd">
            <a:solidFill>
              <a:srgbClr val="38220F"/>
            </a:solidFill>
            <a:round/>
          </a:ln>
          <a:effectLst/>
        </c:spPr>
        <c:marker>
          <c:symbol val="circle"/>
          <c:size val="5"/>
          <c:spPr>
            <a:solidFill>
              <a:srgbClr val="38220F"/>
            </a:solidFill>
            <a:ln w="9525">
              <a:solidFill>
                <a:srgbClr val="38220F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38220F"/>
            </a:solidFill>
            <a:round/>
          </a:ln>
          <a:effectLst/>
        </c:spPr>
        <c:marker>
          <c:symbol val="circle"/>
          <c:size val="5"/>
          <c:spPr>
            <a:solidFill>
              <a:srgbClr val="38220F"/>
            </a:solidFill>
            <a:ln w="9525">
              <a:solidFill>
                <a:srgbClr val="38220F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Pivot!$B$1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marker>
            <c:symbol val="none"/>
          </c:marker>
          <c:cat>
            <c:strRef>
              <c:f>Pivot!$A$2:$A$17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Pivot!$B$2:$B$17</c:f>
              <c:numCache>
                <c:formatCode>General</c:formatCode>
                <c:ptCount val="15"/>
                <c:pt idx="0">
                  <c:v>6865</c:v>
                </c:pt>
                <c:pt idx="1">
                  <c:v>19449</c:v>
                </c:pt>
                <c:pt idx="2">
                  <c:v>25197</c:v>
                </c:pt>
                <c:pt idx="3">
                  <c:v>25370</c:v>
                </c:pt>
                <c:pt idx="4">
                  <c:v>26713</c:v>
                </c:pt>
                <c:pt idx="5">
                  <c:v>14035</c:v>
                </c:pt>
                <c:pt idx="6">
                  <c:v>12690</c:v>
                </c:pt>
                <c:pt idx="7">
                  <c:v>12439</c:v>
                </c:pt>
                <c:pt idx="8">
                  <c:v>12907</c:v>
                </c:pt>
                <c:pt idx="9">
                  <c:v>12923</c:v>
                </c:pt>
                <c:pt idx="10">
                  <c:v>12881</c:v>
                </c:pt>
                <c:pt idx="11">
                  <c:v>12700</c:v>
                </c:pt>
                <c:pt idx="12">
                  <c:v>10826</c:v>
                </c:pt>
                <c:pt idx="13">
                  <c:v>8595</c:v>
                </c:pt>
                <c:pt idx="14">
                  <c:v>880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43-489A-8AF3-B39F4DBAA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6789119"/>
        <c:axId val="1196785759"/>
      </c:lineChart>
      <c:catAx>
        <c:axId val="1196789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785759"/>
        <c:crosses val="autoZero"/>
        <c:auto val="1"/>
        <c:lblAlgn val="ctr"/>
        <c:lblOffset val="100"/>
        <c:noMultiLvlLbl val="0"/>
      </c:catAx>
      <c:valAx>
        <c:axId val="1196785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Quantity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789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[Coffee_Shop_Sale.xlsx]Pivot!PivotTable5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Categories % Distribution Based on Sale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4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5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6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7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8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9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0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1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2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4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5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6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7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8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9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0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1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2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4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5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6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7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8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9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30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31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Pivot!$I$1</c:f>
              <c:strCache>
                <c:ptCount val="1"/>
                <c:pt idx="0">
                  <c:v>Total</c:v>
                </c:pt>
              </c:strCache>
            </c:strRef>
          </c:tx>
          <c:explosion val="10"/>
          <c:dPt>
            <c:idx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1">
                      <a:shade val="74000"/>
                      <a:satMod val="130000"/>
                      <a:lumMod val="90000"/>
                    </a:schemeClr>
                    <a:schemeClr val="accent1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0BE-4CBE-9625-58E3E490AC1B}"/>
              </c:ext>
            </c:extLst>
          </c:dPt>
          <c:dPt>
            <c:idx val="1"/>
            <c:bubble3D val="0"/>
            <c:spPr>
              <a:blipFill>
                <a:blip xmlns:r="http://schemas.openxmlformats.org/officeDocument/2006/relationships" r:embed="rId3">
                  <a:duotone>
                    <a:schemeClr val="accent2">
                      <a:shade val="74000"/>
                      <a:satMod val="130000"/>
                      <a:lumMod val="90000"/>
                    </a:schemeClr>
                    <a:schemeClr val="accent2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0BE-4CBE-9625-58E3E490AC1B}"/>
              </c:ext>
            </c:extLst>
          </c:dPt>
          <c:dPt>
            <c:idx val="2"/>
            <c:bubble3D val="0"/>
            <c:spPr>
              <a:blipFill>
                <a:blip xmlns:r="http://schemas.openxmlformats.org/officeDocument/2006/relationships" r:embed="rId3">
                  <a:duotone>
                    <a:schemeClr val="accent3">
                      <a:shade val="74000"/>
                      <a:satMod val="130000"/>
                      <a:lumMod val="90000"/>
                    </a:schemeClr>
                    <a:schemeClr val="accent3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0BE-4CBE-9625-58E3E490AC1B}"/>
              </c:ext>
            </c:extLst>
          </c:dPt>
          <c:dPt>
            <c:idx val="3"/>
            <c:bubble3D val="0"/>
            <c:spPr>
              <a:blipFill>
                <a:blip xmlns:r="http://schemas.openxmlformats.org/officeDocument/2006/relationships" r:embed="rId3">
                  <a:duotone>
                    <a:schemeClr val="accent4">
                      <a:shade val="74000"/>
                      <a:satMod val="130000"/>
                      <a:lumMod val="90000"/>
                    </a:schemeClr>
                    <a:schemeClr val="accent4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90BE-4CBE-9625-58E3E490AC1B}"/>
              </c:ext>
            </c:extLst>
          </c:dPt>
          <c:dPt>
            <c:idx val="4"/>
            <c:bubble3D val="0"/>
            <c:spPr>
              <a:blipFill>
                <a:blip xmlns:r="http://schemas.openxmlformats.org/officeDocument/2006/relationships" r:embed="rId3">
                  <a:duotone>
                    <a:schemeClr val="accent5">
                      <a:shade val="74000"/>
                      <a:satMod val="130000"/>
                      <a:lumMod val="90000"/>
                    </a:schemeClr>
                    <a:schemeClr val="accent5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90BE-4CBE-9625-58E3E490AC1B}"/>
              </c:ext>
            </c:extLst>
          </c:dPt>
          <c:dPt>
            <c:idx val="5"/>
            <c:bubble3D val="0"/>
            <c:spPr>
              <a:blipFill>
                <a:blip xmlns:r="http://schemas.openxmlformats.org/officeDocument/2006/relationships" r:embed="rId3">
                  <a:duotone>
                    <a:schemeClr val="accent6">
                      <a:shade val="74000"/>
                      <a:satMod val="130000"/>
                      <a:lumMod val="90000"/>
                    </a:schemeClr>
                    <a:schemeClr val="accent6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90BE-4CBE-9625-58E3E490AC1B}"/>
              </c:ext>
            </c:extLst>
          </c:dPt>
          <c:dPt>
            <c:idx val="6"/>
            <c:bubble3D val="0"/>
            <c:spPr>
              <a:blipFill>
                <a:blip xmlns:r="http://schemas.openxmlformats.org/officeDocument/2006/relationships" r:embed="rId3">
                  <a:duotone>
                    <a:schemeClr val="accent1">
                      <a:lumMod val="60000"/>
                      <a:shade val="74000"/>
                      <a:satMod val="130000"/>
                      <a:lumMod val="90000"/>
                    </a:schemeClr>
                    <a:schemeClr val="accent1">
                      <a:lumMod val="60000"/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90BE-4CBE-9625-58E3E490AC1B}"/>
              </c:ext>
            </c:extLst>
          </c:dPt>
          <c:dPt>
            <c:idx val="7"/>
            <c:bubble3D val="0"/>
            <c:spPr>
              <a:blipFill>
                <a:blip xmlns:r="http://schemas.openxmlformats.org/officeDocument/2006/relationships" r:embed="rId3">
                  <a:duotone>
                    <a:schemeClr val="accent2">
                      <a:lumMod val="60000"/>
                      <a:shade val="74000"/>
                      <a:satMod val="130000"/>
                      <a:lumMod val="90000"/>
                    </a:schemeClr>
                    <a:schemeClr val="accent2">
                      <a:lumMod val="60000"/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90BE-4CBE-9625-58E3E490AC1B}"/>
              </c:ext>
            </c:extLst>
          </c:dPt>
          <c:dPt>
            <c:idx val="8"/>
            <c:bubble3D val="0"/>
            <c:spPr>
              <a:blipFill>
                <a:blip xmlns:r="http://schemas.openxmlformats.org/officeDocument/2006/relationships" r:embed="rId3">
                  <a:duotone>
                    <a:schemeClr val="accent3">
                      <a:lumMod val="60000"/>
                      <a:shade val="74000"/>
                      <a:satMod val="130000"/>
                      <a:lumMod val="90000"/>
                    </a:schemeClr>
                    <a:schemeClr val="accent3">
                      <a:lumMod val="60000"/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90BE-4CBE-9625-58E3E490AC1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Pivot!$H$2:$H$11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Pivot!$I$2:$I$11</c:f>
              <c:numCache>
                <c:formatCode>_-[$$-409]* #,##0.00_ ;_-[$$-409]* \-#,##0.00\ ;_-[$$-409]* "-"??_ ;_-@_ </c:formatCode>
                <c:ptCount val="9"/>
                <c:pt idx="0">
                  <c:v>82315.639999999912</c:v>
                </c:pt>
                <c:pt idx="1">
                  <c:v>13607</c:v>
                </c:pt>
                <c:pt idx="2">
                  <c:v>269952.45</c:v>
                </c:pt>
                <c:pt idx="3">
                  <c:v>40085.25</c:v>
                </c:pt>
                <c:pt idx="4">
                  <c:v>72416</c:v>
                </c:pt>
                <c:pt idx="5">
                  <c:v>8408.800000000012</c:v>
                </c:pt>
                <c:pt idx="6">
                  <c:v>11213.6</c:v>
                </c:pt>
                <c:pt idx="7">
                  <c:v>4407.6399999999994</c:v>
                </c:pt>
                <c:pt idx="8">
                  <c:v>196405.95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0BE-4CBE-9625-58E3E490AC1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[Coffee_Shop_Sale.xlsx]Pivot!PivotTable4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% of Size Distribution Based on Orderd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4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5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6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7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8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9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0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1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2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4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5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6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7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8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19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0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1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2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4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5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6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7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8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29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30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31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32"/>
        <c:spPr>
          <a:blipFill>
            <a:blip xmlns:r="http://schemas.openxmlformats.org/officeDocument/2006/relationships" r:embed="rId3">
              <a:duotone>
                <a:schemeClr val="accent1">
                  <a:shade val="74000"/>
                  <a:satMod val="130000"/>
                  <a:lumMod val="90000"/>
                </a:schemeClr>
                <a:schemeClr val="accent1">
                  <a:tint val="94000"/>
                  <a:satMod val="120000"/>
                  <a:lumMod val="104000"/>
                </a:schemeClr>
              </a:duotone>
            </a:blip>
            <a:tile tx="0" ty="0" sx="100000" sy="100000" flip="none" algn="tl"/>
          </a:blipFill>
          <a:ln>
            <a:solidFill>
              <a:srgbClr val="38220F"/>
            </a:solidFill>
          </a:ln>
          <a:effectLst>
            <a:outerShdw blurRad="38100" dist="25400" dir="5400000" rotWithShape="0">
              <a:srgbClr val="000000">
                <a:alpha val="60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34"/>
        <c:spPr>
          <a:solidFill>
            <a:schemeClr val="accent2"/>
          </a:solidFill>
          <a:ln>
            <a:solidFill>
              <a:srgbClr val="38220F"/>
            </a:solidFill>
          </a:ln>
          <a:effectLst/>
        </c:spPr>
      </c:pivotFmt>
      <c:pivotFmt>
        <c:idx val="35"/>
        <c:spPr>
          <a:solidFill>
            <a:schemeClr val="accent3"/>
          </a:solidFill>
          <a:ln>
            <a:solidFill>
              <a:srgbClr val="38220F"/>
            </a:solidFill>
          </a:ln>
          <a:effectLst/>
        </c:spPr>
      </c:pivotFmt>
      <c:pivotFmt>
        <c:idx val="36"/>
        <c:spPr>
          <a:solidFill>
            <a:schemeClr val="accent4"/>
          </a:solidFill>
          <a:ln>
            <a:solidFill>
              <a:srgbClr val="38220F"/>
            </a:solidFill>
          </a:ln>
          <a:effectLst/>
        </c:spPr>
      </c:pivotFmt>
      <c:pivotFmt>
        <c:idx val="37"/>
        <c:spPr>
          <a:blipFill>
            <a:blip xmlns:r="http://schemas.openxmlformats.org/officeDocument/2006/relationships" r:embed="rId3">
              <a:duotone>
                <a:schemeClr val="accent1">
                  <a:shade val="74000"/>
                  <a:satMod val="130000"/>
                  <a:lumMod val="90000"/>
                </a:schemeClr>
                <a:schemeClr val="accent1">
                  <a:tint val="94000"/>
                  <a:satMod val="120000"/>
                  <a:lumMod val="104000"/>
                </a:schemeClr>
              </a:duotone>
            </a:blip>
            <a:tile tx="0" ty="0" sx="100000" sy="100000" flip="none" algn="tl"/>
          </a:blipFill>
          <a:ln>
            <a:solidFill>
              <a:srgbClr val="38220F"/>
            </a:solidFill>
          </a:ln>
          <a:effectLst>
            <a:outerShdw blurRad="38100" dist="25400" dir="5400000" rotWithShape="0">
              <a:srgbClr val="000000">
                <a:alpha val="60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39"/>
        <c:spPr>
          <a:solidFill>
            <a:schemeClr val="accent2"/>
          </a:solidFill>
          <a:ln>
            <a:solidFill>
              <a:srgbClr val="38220F"/>
            </a:solidFill>
          </a:ln>
          <a:effectLst/>
        </c:spPr>
      </c:pivotFmt>
      <c:pivotFmt>
        <c:idx val="40"/>
        <c:spPr>
          <a:solidFill>
            <a:schemeClr val="accent3"/>
          </a:solidFill>
          <a:ln>
            <a:solidFill>
              <a:srgbClr val="38220F"/>
            </a:solidFill>
          </a:ln>
          <a:effectLst/>
        </c:spPr>
      </c:pivotFmt>
      <c:pivotFmt>
        <c:idx val="41"/>
        <c:spPr>
          <a:solidFill>
            <a:schemeClr val="accent4"/>
          </a:solidFill>
          <a:ln>
            <a:solidFill>
              <a:srgbClr val="38220F"/>
            </a:solidFill>
          </a:ln>
          <a:effectLst/>
        </c:spPr>
      </c:pivotFmt>
      <c:pivotFmt>
        <c:idx val="42"/>
        <c:spPr>
          <a:blipFill>
            <a:blip xmlns:r="http://schemas.openxmlformats.org/officeDocument/2006/relationships" r:embed="rId3">
              <a:duotone>
                <a:schemeClr val="accent1">
                  <a:shade val="74000"/>
                  <a:satMod val="130000"/>
                  <a:lumMod val="90000"/>
                </a:schemeClr>
                <a:schemeClr val="accent1">
                  <a:tint val="94000"/>
                  <a:satMod val="120000"/>
                  <a:lumMod val="104000"/>
                </a:schemeClr>
              </a:duotone>
            </a:blip>
            <a:tile tx="0" ty="0" sx="100000" sy="100000" flip="none" algn="tl"/>
          </a:blipFill>
          <a:ln>
            <a:solidFill>
              <a:srgbClr val="38220F"/>
            </a:solidFill>
          </a:ln>
          <a:effectLst>
            <a:outerShdw blurRad="38100" dist="25400" dir="5400000" rotWithShape="0">
              <a:srgbClr val="000000">
                <a:alpha val="60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solidFill>
              <a:srgbClr val="38220F"/>
            </a:solidFill>
          </a:ln>
          <a:effectLst/>
        </c:spPr>
      </c:pivotFmt>
      <c:pivotFmt>
        <c:idx val="44"/>
        <c:spPr>
          <a:solidFill>
            <a:schemeClr val="accent2"/>
          </a:solidFill>
          <a:ln>
            <a:solidFill>
              <a:srgbClr val="38220F"/>
            </a:solidFill>
          </a:ln>
          <a:effectLst/>
        </c:spPr>
      </c:pivotFmt>
      <c:pivotFmt>
        <c:idx val="45"/>
        <c:spPr>
          <a:solidFill>
            <a:schemeClr val="accent3"/>
          </a:solidFill>
          <a:ln>
            <a:solidFill>
              <a:srgbClr val="38220F"/>
            </a:solidFill>
          </a:ln>
          <a:effectLst/>
        </c:spPr>
      </c:pivotFmt>
      <c:pivotFmt>
        <c:idx val="46"/>
        <c:spPr>
          <a:solidFill>
            <a:schemeClr val="accent4"/>
          </a:solidFill>
          <a:ln>
            <a:solidFill>
              <a:srgbClr val="38220F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Pivot!$N$1</c:f>
              <c:strCache>
                <c:ptCount val="1"/>
                <c:pt idx="0">
                  <c:v>Total</c:v>
                </c:pt>
              </c:strCache>
            </c:strRef>
          </c:tx>
          <c:explosion val="10"/>
          <c:dPt>
            <c:idx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1">
                      <a:shade val="74000"/>
                      <a:satMod val="130000"/>
                      <a:lumMod val="90000"/>
                    </a:schemeClr>
                    <a:schemeClr val="accent1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7D4-4798-BC81-0F9A4A3B2753}"/>
              </c:ext>
            </c:extLst>
          </c:dPt>
          <c:dPt>
            <c:idx val="1"/>
            <c:bubble3D val="0"/>
            <c:spPr>
              <a:blipFill>
                <a:blip xmlns:r="http://schemas.openxmlformats.org/officeDocument/2006/relationships" r:embed="rId3">
                  <a:duotone>
                    <a:schemeClr val="accent2">
                      <a:shade val="74000"/>
                      <a:satMod val="130000"/>
                      <a:lumMod val="90000"/>
                    </a:schemeClr>
                    <a:schemeClr val="accent2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7D4-4798-BC81-0F9A4A3B2753}"/>
              </c:ext>
            </c:extLst>
          </c:dPt>
          <c:dPt>
            <c:idx val="2"/>
            <c:bubble3D val="0"/>
            <c:spPr>
              <a:blipFill>
                <a:blip xmlns:r="http://schemas.openxmlformats.org/officeDocument/2006/relationships" r:embed="rId3">
                  <a:duotone>
                    <a:schemeClr val="accent3">
                      <a:shade val="74000"/>
                      <a:satMod val="130000"/>
                      <a:lumMod val="90000"/>
                    </a:schemeClr>
                    <a:schemeClr val="accent3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7D4-4798-BC81-0F9A4A3B2753}"/>
              </c:ext>
            </c:extLst>
          </c:dPt>
          <c:dPt>
            <c:idx val="3"/>
            <c:bubble3D val="0"/>
            <c:spPr>
              <a:blipFill>
                <a:blip xmlns:r="http://schemas.openxmlformats.org/officeDocument/2006/relationships" r:embed="rId3">
                  <a:duotone>
                    <a:schemeClr val="accent4">
                      <a:shade val="74000"/>
                      <a:satMod val="130000"/>
                      <a:lumMod val="90000"/>
                    </a:schemeClr>
                    <a:schemeClr val="accent4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7D4-4798-BC81-0F9A4A3B2753}"/>
              </c:ext>
            </c:extLst>
          </c:dPt>
          <c:dPt>
            <c:idx val="4"/>
            <c:bubble3D val="0"/>
            <c:spPr>
              <a:blipFill>
                <a:blip xmlns:r="http://schemas.openxmlformats.org/officeDocument/2006/relationships" r:embed="rId3">
                  <a:duotone>
                    <a:schemeClr val="accent5">
                      <a:shade val="74000"/>
                      <a:satMod val="130000"/>
                      <a:lumMod val="90000"/>
                    </a:schemeClr>
                    <a:schemeClr val="accent5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C7D4-4798-BC81-0F9A4A3B2753}"/>
              </c:ext>
            </c:extLst>
          </c:dPt>
          <c:dPt>
            <c:idx val="5"/>
            <c:bubble3D val="0"/>
            <c:spPr>
              <a:blipFill>
                <a:blip xmlns:r="http://schemas.openxmlformats.org/officeDocument/2006/relationships" r:embed="rId3">
                  <a:duotone>
                    <a:schemeClr val="accent6">
                      <a:shade val="74000"/>
                      <a:satMod val="130000"/>
                      <a:lumMod val="90000"/>
                    </a:schemeClr>
                    <a:schemeClr val="accent6"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7D4-4798-BC81-0F9A4A3B2753}"/>
              </c:ext>
            </c:extLst>
          </c:dPt>
          <c:dPt>
            <c:idx val="6"/>
            <c:bubble3D val="0"/>
            <c:spPr>
              <a:blipFill>
                <a:blip xmlns:r="http://schemas.openxmlformats.org/officeDocument/2006/relationships" r:embed="rId3">
                  <a:duotone>
                    <a:schemeClr val="accent1">
                      <a:lumMod val="60000"/>
                      <a:shade val="74000"/>
                      <a:satMod val="130000"/>
                      <a:lumMod val="90000"/>
                    </a:schemeClr>
                    <a:schemeClr val="accent1">
                      <a:lumMod val="60000"/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C7D4-4798-BC81-0F9A4A3B2753}"/>
              </c:ext>
            </c:extLst>
          </c:dPt>
          <c:dPt>
            <c:idx val="7"/>
            <c:bubble3D val="0"/>
            <c:spPr>
              <a:blipFill>
                <a:blip xmlns:r="http://schemas.openxmlformats.org/officeDocument/2006/relationships" r:embed="rId3">
                  <a:duotone>
                    <a:schemeClr val="accent2">
                      <a:lumMod val="60000"/>
                      <a:shade val="74000"/>
                      <a:satMod val="130000"/>
                      <a:lumMod val="90000"/>
                    </a:schemeClr>
                    <a:schemeClr val="accent2">
                      <a:lumMod val="60000"/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7D4-4798-BC81-0F9A4A3B2753}"/>
              </c:ext>
            </c:extLst>
          </c:dPt>
          <c:dPt>
            <c:idx val="8"/>
            <c:bubble3D val="0"/>
            <c:spPr>
              <a:blipFill>
                <a:blip xmlns:r="http://schemas.openxmlformats.org/officeDocument/2006/relationships" r:embed="rId3">
                  <a:duotone>
                    <a:schemeClr val="accent3">
                      <a:lumMod val="60000"/>
                      <a:shade val="74000"/>
                      <a:satMod val="130000"/>
                      <a:lumMod val="90000"/>
                    </a:schemeClr>
                    <a:schemeClr val="accent3">
                      <a:lumMod val="60000"/>
                      <a:tint val="94000"/>
                      <a:satMod val="120000"/>
                      <a:lumMod val="104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  <a:effectLst>
                <a:outerShdw blurRad="38100" dist="25400" dir="5400000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C7D4-4798-BC81-0F9A4A3B27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Pivot!$M$2:$M$6</c:f>
              <c:strCache>
                <c:ptCount val="4"/>
                <c:pt idx="0">
                  <c:v>Large</c:v>
                </c:pt>
                <c:pt idx="1">
                  <c:v>Not Defined</c:v>
                </c:pt>
                <c:pt idx="2">
                  <c:v>Regular</c:v>
                </c:pt>
                <c:pt idx="3">
                  <c:v>Small</c:v>
                </c:pt>
              </c:strCache>
            </c:strRef>
          </c:cat>
          <c:val>
            <c:numRef>
              <c:f>Pivot!$N$2:$N$6</c:f>
              <c:numCache>
                <c:formatCode>General</c:formatCode>
                <c:ptCount val="4"/>
                <c:pt idx="0">
                  <c:v>44885</c:v>
                </c:pt>
                <c:pt idx="1">
                  <c:v>44518</c:v>
                </c:pt>
                <c:pt idx="2">
                  <c:v>45789</c:v>
                </c:pt>
                <c:pt idx="3">
                  <c:v>13924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7D4-4798-BC81-0F9A4A3B275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[Coffee_Shop_Sale.xlsx]Pivot!Footfall_Store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Footfall over various Store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Pivot!$H$23</c:f>
              <c:strCache>
                <c:ptCount val="1"/>
                <c:pt idx="0">
                  <c:v>Total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1">
                    <a:shade val="74000"/>
                    <a:satMod val="130000"/>
                    <a:lumMod val="90000"/>
                  </a:schemeClr>
                  <a:schemeClr val="accent1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Pivot!$G$24:$G$27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Pivot!$H$24:$H$27</c:f>
              <c:numCache>
                <c:formatCode>General</c:formatCode>
                <c:ptCount val="3"/>
                <c:pt idx="0">
                  <c:v>50599</c:v>
                </c:pt>
                <c:pt idx="1">
                  <c:v>50735</c:v>
                </c:pt>
                <c:pt idx="2">
                  <c:v>47782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88-44B7-B098-73167A4263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25149871"/>
        <c:axId val="1125162351"/>
      </c:barChart>
      <c:catAx>
        <c:axId val="11251498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Store Location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62351"/>
        <c:crosses val="autoZero"/>
        <c:auto val="1"/>
        <c:lblAlgn val="ctr"/>
        <c:lblOffset val="100"/>
        <c:noMultiLvlLbl val="0"/>
      </c:catAx>
      <c:valAx>
        <c:axId val="1125162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Footfall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4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[Coffee_Shop_Sale.xlsx]Pivot!Top_5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Products Based on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Pivot!$I$14</c:f>
              <c:strCache>
                <c:ptCount val="1"/>
                <c:pt idx="0">
                  <c:v>Total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1">
                    <a:shade val="74000"/>
                    <a:satMod val="130000"/>
                    <a:lumMod val="90000"/>
                  </a:schemeClr>
                  <a:schemeClr val="accent1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Pivot!$H$15:$H$20</c:f>
              <c:strCache>
                <c:ptCount val="5"/>
                <c:pt idx="0">
                  <c:v>Barista Espresso</c:v>
                </c:pt>
                <c:pt idx="1">
                  <c:v>Brewed Black tea</c:v>
                </c:pt>
                <c:pt idx="2">
                  <c:v>Brewed Chai tea</c:v>
                </c:pt>
                <c:pt idx="3">
                  <c:v>Gourmet brewed coffee</c:v>
                </c:pt>
                <c:pt idx="4">
                  <c:v>Hot chocolate</c:v>
                </c:pt>
              </c:strCache>
            </c:strRef>
          </c:cat>
          <c:val>
            <c:numRef>
              <c:f>Pivot!$I$15:$I$20</c:f>
              <c:numCache>
                <c:formatCode>_-[$$-409]* #,##0.00_ ;_-[$$-409]* \-#,##0.00\ ;_-[$$-409]* "-"??_ ;_-@_ </c:formatCode>
                <c:ptCount val="5"/>
                <c:pt idx="0">
                  <c:v>91406.2</c:v>
                </c:pt>
                <c:pt idx="1">
                  <c:v>47932</c:v>
                </c:pt>
                <c:pt idx="2">
                  <c:v>77081.950000000012</c:v>
                </c:pt>
                <c:pt idx="3">
                  <c:v>70034.600000000006</c:v>
                </c:pt>
                <c:pt idx="4">
                  <c:v>72416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F4-4490-8604-7175D6A52F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25149871"/>
        <c:axId val="1125162351"/>
      </c:barChart>
      <c:catAx>
        <c:axId val="11251498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Product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62351"/>
        <c:crosses val="autoZero"/>
        <c:auto val="1"/>
        <c:lblAlgn val="ctr"/>
        <c:lblOffset val="100"/>
        <c:noMultiLvlLbl val="0"/>
      </c:catAx>
      <c:valAx>
        <c:axId val="1125162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4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[Coffee_Shop_Sale.xlsx]Pivot!PivotTable2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Orders on Weekdays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4832"/>
          </a:solidFill>
          <a:ln>
            <a:solidFill>
              <a:srgbClr val="38220F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Pivot!$F$1</c:f>
              <c:strCache>
                <c:ptCount val="1"/>
                <c:pt idx="0">
                  <c:v>Total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1">
                    <a:shade val="74000"/>
                    <a:satMod val="130000"/>
                    <a:lumMod val="90000"/>
                  </a:schemeClr>
                  <a:schemeClr val="accent1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Pivot!$E$2:$E$9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Pivot!$F$2:$F$9</c:f>
              <c:numCache>
                <c:formatCode>General</c:formatCode>
                <c:ptCount val="7"/>
                <c:pt idx="0">
                  <c:v>21096</c:v>
                </c:pt>
                <c:pt idx="1">
                  <c:v>21643</c:v>
                </c:pt>
                <c:pt idx="2">
                  <c:v>21202</c:v>
                </c:pt>
                <c:pt idx="3">
                  <c:v>21310</c:v>
                </c:pt>
                <c:pt idx="4">
                  <c:v>21654</c:v>
                </c:pt>
                <c:pt idx="5">
                  <c:v>21701</c:v>
                </c:pt>
                <c:pt idx="6">
                  <c:v>20510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1F-4D14-BADD-845ACAD1351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25149871"/>
        <c:axId val="1125162351"/>
      </c:barChart>
      <c:catAx>
        <c:axId val="11251498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Week Days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62351"/>
        <c:crosses val="autoZero"/>
        <c:auto val="1"/>
        <c:lblAlgn val="ctr"/>
        <c:lblOffset val="100"/>
        <c:noMultiLvlLbl val="0"/>
      </c:catAx>
      <c:valAx>
        <c:axId val="1125162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Footfall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4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55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54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54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2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88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30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3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16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19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36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14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18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501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210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960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414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7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D3BCC2-E40C-45D1-AEDA-B545D3B01FBD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925A25-EA1F-4AEA-A4BD-3830187B1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74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55129-8A2B-08AD-9FBB-F7E3B881A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2594" y="1495988"/>
            <a:ext cx="8347587" cy="1933012"/>
          </a:xfrm>
        </p:spPr>
        <p:txBody>
          <a:bodyPr/>
          <a:lstStyle/>
          <a:p>
            <a:r>
              <a:rPr lang="en-US" dirty="0"/>
              <a:t>Coffee Shop Sales Performance Overview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D766A-14A5-8689-CC3C-A8219DD6D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8903" y="3550424"/>
            <a:ext cx="7462684" cy="1811589"/>
          </a:xfrm>
        </p:spPr>
        <p:txBody>
          <a:bodyPr>
            <a:normAutofit/>
          </a:bodyPr>
          <a:lstStyle/>
          <a:p>
            <a:r>
              <a:rPr lang="en-US" dirty="0"/>
              <a:t>A Data-Driven Analysis of Store Sales, Footfall &amp; Product Trends</a:t>
            </a:r>
          </a:p>
          <a:p>
            <a:r>
              <a:rPr lang="en-US" dirty="0"/>
              <a:t>An Excel Data Analytics Project</a:t>
            </a:r>
          </a:p>
          <a:p>
            <a:r>
              <a:rPr lang="en-IN" dirty="0"/>
              <a:t>Presented by Suvodip Mistry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BA2CD6-00A6-CB8B-2878-AB0FF7156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109" y="155364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6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E04D-BD8E-0DA6-60CA-DC75F9F8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Key Performance Indicators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3E6AA4-B5C1-0C9C-10B8-4434AE7D94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7151" y="2600910"/>
            <a:ext cx="891769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💰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Sales: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$6,98,812.33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👣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Footfall: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149,116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🧾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 Bill per Person: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$4.69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☕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 Orders per Person: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1.44</a:t>
            </a:r>
          </a:p>
        </p:txBody>
      </p:sp>
    </p:spTree>
    <p:extLst>
      <p:ext uri="{BB962C8B-B14F-4D97-AF65-F5344CB8AC3E}">
        <p14:creationId xmlns:p14="http://schemas.microsoft.com/office/powerpoint/2010/main" val="1139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A5A5-C6CD-9EC5-876F-D080420F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Purchase Trends by Hour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A28AB4-6AC9-6F51-09AB-2EF29D9256F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22555" y="3303529"/>
            <a:ext cx="398971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peak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8–9 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likely due to morning rush.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 sharply after 11 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 stable through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afternoon until closing.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25C1F56-285D-4C72-8B44-9D17E86F6A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752090"/>
              </p:ext>
            </p:extLst>
          </p:nvPr>
        </p:nvGraphicFramePr>
        <p:xfrm>
          <a:off x="5417575" y="1906895"/>
          <a:ext cx="5751870" cy="3500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154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CAD9-F559-702E-CE48-0F222AB6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Distribution by Product Category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1D9D1-CAEF-D8AC-1D9C-625EBD39C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Data (approximate from dashboard):</a:t>
            </a:r>
            <a:endParaRPr lang="en-US" dirty="0"/>
          </a:p>
          <a:p>
            <a:r>
              <a:rPr lang="en-US" dirty="0"/>
              <a:t>Coffee: </a:t>
            </a:r>
            <a:r>
              <a:rPr lang="en-US" b="1" dirty="0"/>
              <a:t>39%</a:t>
            </a:r>
            <a:endParaRPr lang="en-US" dirty="0"/>
          </a:p>
          <a:p>
            <a:r>
              <a:rPr lang="en-US" dirty="0"/>
              <a:t>Tea: </a:t>
            </a:r>
            <a:r>
              <a:rPr lang="en-US" b="1" dirty="0"/>
              <a:t>28%</a:t>
            </a:r>
            <a:endParaRPr lang="en-US" dirty="0"/>
          </a:p>
          <a:p>
            <a:r>
              <a:rPr lang="en-US" dirty="0"/>
              <a:t>Bakery: </a:t>
            </a:r>
            <a:r>
              <a:rPr lang="en-US" b="1" dirty="0"/>
              <a:t>12%</a:t>
            </a:r>
            <a:endParaRPr lang="en-US" dirty="0"/>
          </a:p>
          <a:p>
            <a:r>
              <a:rPr lang="en-US" dirty="0"/>
              <a:t>Coffee Beans: </a:t>
            </a:r>
            <a:r>
              <a:rPr lang="en-US" b="1" dirty="0"/>
              <a:t>6%</a:t>
            </a:r>
            <a:endParaRPr lang="en-US" dirty="0"/>
          </a:p>
          <a:p>
            <a:r>
              <a:rPr lang="en-US" dirty="0"/>
              <a:t>Others (</a:t>
            </a:r>
            <a:r>
              <a:rPr lang="en-US" dirty="0" err="1"/>
              <a:t>Flavours</a:t>
            </a:r>
            <a:r>
              <a:rPr lang="en-US" dirty="0"/>
              <a:t>, Chocolate, etc.): </a:t>
            </a:r>
            <a:r>
              <a:rPr lang="en-US" b="1" dirty="0"/>
              <a:t>&lt;5%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DE31E4-2D3E-4CF0-BB12-2C4022298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873049"/>
              </p:ext>
            </p:extLst>
          </p:nvPr>
        </p:nvGraphicFramePr>
        <p:xfrm>
          <a:off x="5801032" y="1533833"/>
          <a:ext cx="5211097" cy="3935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682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3D91-5FD1-A069-9389-3CADEB4E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192" y="1907457"/>
            <a:ext cx="3886201" cy="708877"/>
          </a:xfrm>
        </p:spPr>
        <p:txBody>
          <a:bodyPr/>
          <a:lstStyle/>
          <a:p>
            <a:r>
              <a:rPr lang="en-IN" dirty="0"/>
              <a:t>Product Size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CABB9-402A-FDEE-1F67-CB51C5FEE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97" y="3249086"/>
            <a:ext cx="4918589" cy="198516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Data:</a:t>
            </a:r>
            <a:endParaRPr lang="en-US" dirty="0"/>
          </a:p>
          <a:p>
            <a:r>
              <a:rPr lang="en-US" dirty="0"/>
              <a:t>Regular – 31%</a:t>
            </a:r>
          </a:p>
          <a:p>
            <a:r>
              <a:rPr lang="en-US" dirty="0"/>
              <a:t>Large – 30%</a:t>
            </a:r>
          </a:p>
          <a:p>
            <a:r>
              <a:rPr lang="en-US" dirty="0"/>
              <a:t>Small – 9%</a:t>
            </a:r>
          </a:p>
          <a:p>
            <a:r>
              <a:rPr lang="en-US" dirty="0"/>
              <a:t>Not Defined – 30%</a:t>
            </a:r>
          </a:p>
          <a:p>
            <a:endParaRPr lang="en-IN" dirty="0"/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D44ECC5F-57EA-4B0E-87D2-0194C89FE926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4288965793"/>
              </p:ext>
            </p:extLst>
          </p:nvPr>
        </p:nvGraphicFramePr>
        <p:xfrm>
          <a:off x="5683045" y="1798349"/>
          <a:ext cx="5420033" cy="3608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7832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00AE-D13C-1313-576A-ABEED036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Footfall Across Store Locations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E4E01-4059-271C-D468-AA2C74F6E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b="1" dirty="0"/>
              <a:t>Data:</a:t>
            </a:r>
            <a:endParaRPr lang="en-IN" dirty="0"/>
          </a:p>
          <a:p>
            <a:r>
              <a:rPr lang="en-IN" dirty="0"/>
              <a:t>Hell’s Kitchen – 50,735</a:t>
            </a:r>
          </a:p>
          <a:p>
            <a:r>
              <a:rPr lang="en-IN" dirty="0"/>
              <a:t>Astoria – 50,599</a:t>
            </a:r>
          </a:p>
          <a:p>
            <a:r>
              <a:rPr lang="en-IN" dirty="0"/>
              <a:t>Lower Manhattan – 47,782</a:t>
            </a:r>
          </a:p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8FB6C0-1FCE-4F72-A446-B834994BF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605389"/>
              </p:ext>
            </p:extLst>
          </p:nvPr>
        </p:nvGraphicFramePr>
        <p:xfrm>
          <a:off x="5673213" y="1494221"/>
          <a:ext cx="5614219" cy="3869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0402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445C-97D8-CBA4-E688-6D9218D7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1" y="1883832"/>
            <a:ext cx="4375354" cy="1371600"/>
          </a:xfrm>
        </p:spPr>
        <p:txBody>
          <a:bodyPr/>
          <a:lstStyle/>
          <a:p>
            <a:r>
              <a:rPr lang="en-IN" dirty="0"/>
              <a:t>Best-Selling Coffee Shop Products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8AEA3-9D9B-AB1E-21CA-6F58797C8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6581" y="3255432"/>
            <a:ext cx="4375354" cy="182880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Data:</a:t>
            </a:r>
            <a:endParaRPr lang="en-IN" dirty="0"/>
          </a:p>
          <a:p>
            <a:r>
              <a:rPr lang="en-IN" dirty="0"/>
              <a:t>Barista Espresso – ₹91,406</a:t>
            </a:r>
          </a:p>
          <a:p>
            <a:r>
              <a:rPr lang="en-IN" dirty="0"/>
              <a:t>Brewed Chai Tea – ₹77,081</a:t>
            </a:r>
          </a:p>
          <a:p>
            <a:r>
              <a:rPr lang="en-IN" dirty="0"/>
              <a:t>Gourmet Brewed Coffee – ₹72,416</a:t>
            </a:r>
          </a:p>
          <a:p>
            <a:r>
              <a:rPr lang="en-IN" dirty="0"/>
              <a:t>Hot Chocolate – ₹70,035</a:t>
            </a:r>
          </a:p>
          <a:p>
            <a:r>
              <a:rPr lang="en-IN" dirty="0"/>
              <a:t>Brewed Black Tea – ₹47,932</a:t>
            </a:r>
          </a:p>
          <a:p>
            <a:endParaRPr lang="en-IN" dirty="0"/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37C8295F-5BD5-4A1E-86D8-184DC34E8947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616358871"/>
              </p:ext>
            </p:extLst>
          </p:nvPr>
        </p:nvGraphicFramePr>
        <p:xfrm>
          <a:off x="5329083" y="1636185"/>
          <a:ext cx="5663381" cy="393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75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6FFD-2C4A-5E02-EAD1-D53B86D1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" y="1769806"/>
            <a:ext cx="4139381" cy="1485626"/>
          </a:xfrm>
        </p:spPr>
        <p:txBody>
          <a:bodyPr/>
          <a:lstStyle/>
          <a:p>
            <a:r>
              <a:rPr lang="en-IN" dirty="0"/>
              <a:t>Orders Distribution by Weekday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65D35-35BE-FCCF-9A71-380450F5B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3561" y="3255432"/>
            <a:ext cx="3991897" cy="18288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Thursday &amp; Friday have the highest orders (≈ 21,650+)</a:t>
            </a:r>
          </a:p>
          <a:p>
            <a:r>
              <a:rPr lang="en-US" dirty="0"/>
              <a:t>Saturday dips slightly (20,510)</a:t>
            </a:r>
          </a:p>
          <a:p>
            <a:r>
              <a:rPr lang="en-US" dirty="0"/>
              <a:t>Indicates strong </a:t>
            </a:r>
            <a:r>
              <a:rPr lang="en-US" b="1" dirty="0"/>
              <a:t>weekday engagement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C7B7E8D5-1C37-4B90-9430-4FFFED28A755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475407971"/>
              </p:ext>
            </p:extLst>
          </p:nvPr>
        </p:nvGraphicFramePr>
        <p:xfrm>
          <a:off x="5220929" y="1592826"/>
          <a:ext cx="5937609" cy="4046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405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345F-603B-286F-EFA5-7CD4B121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Insights and Strategic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FEFB-38A9-997F-4B91-57AE429D4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marketing &amp; staffing during </a:t>
            </a:r>
            <a:r>
              <a:rPr lang="en-US" b="1" dirty="0"/>
              <a:t>morning rush hours (8–10 AM)</a:t>
            </a:r>
            <a:r>
              <a:rPr lang="en-US" dirty="0"/>
              <a:t>.</a:t>
            </a:r>
          </a:p>
          <a:p>
            <a:r>
              <a:rPr lang="en-US" dirty="0"/>
              <a:t>Promote </a:t>
            </a:r>
            <a:r>
              <a:rPr lang="en-US" b="1" dirty="0"/>
              <a:t>espresso, chai tea, and hot chocolate</a:t>
            </a:r>
            <a:r>
              <a:rPr lang="en-US" dirty="0"/>
              <a:t> as flagship items.</a:t>
            </a:r>
          </a:p>
          <a:p>
            <a:r>
              <a:rPr lang="en-US" dirty="0"/>
              <a:t>Encourage </a:t>
            </a:r>
            <a:r>
              <a:rPr lang="en-US" b="1" dirty="0"/>
              <a:t>larger size orders</a:t>
            </a:r>
            <a:r>
              <a:rPr lang="en-US" dirty="0"/>
              <a:t> with combo offers.</a:t>
            </a:r>
          </a:p>
          <a:p>
            <a:r>
              <a:rPr lang="en-US" dirty="0"/>
              <a:t>Explore </a:t>
            </a:r>
            <a:r>
              <a:rPr lang="en-US" b="1" dirty="0"/>
              <a:t>growth opportunities</a:t>
            </a:r>
            <a:r>
              <a:rPr lang="en-US" dirty="0"/>
              <a:t> in Lower Manhattan store.</a:t>
            </a:r>
          </a:p>
          <a:p>
            <a:r>
              <a:rPr lang="en-US" dirty="0"/>
              <a:t>Introduce </a:t>
            </a:r>
            <a:r>
              <a:rPr lang="en-US" b="1" dirty="0"/>
              <a:t>weekend specials</a:t>
            </a:r>
            <a:r>
              <a:rPr lang="en-US" dirty="0"/>
              <a:t> to stabilize sales pattern.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26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4F72FC-F5FF-A2B0-48A1-441A1D754966}"/>
              </a:ext>
            </a:extLst>
          </p:cNvPr>
          <p:cNvSpPr/>
          <p:nvPr/>
        </p:nvSpPr>
        <p:spPr>
          <a:xfrm>
            <a:off x="4371523" y="2967335"/>
            <a:ext cx="34489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0990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955</TotalTime>
  <Words>322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Coffee Shop Sales Performance Overview</vt:lpstr>
      <vt:lpstr>Key Performance Indicators</vt:lpstr>
      <vt:lpstr>Customer Purchase Trends by Hour</vt:lpstr>
      <vt:lpstr>Sales Distribution by Product Category</vt:lpstr>
      <vt:lpstr>Product Size Distribution</vt:lpstr>
      <vt:lpstr>Footfall Across Store Locations</vt:lpstr>
      <vt:lpstr>Best-Selling Coffee Shop Products</vt:lpstr>
      <vt:lpstr>Orders Distribution by Weekday</vt:lpstr>
      <vt:lpstr>Business Insights and Strategic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Suvodip Mistry</dc:creator>
  <cp:lastModifiedBy>Suvodip Mistry</cp:lastModifiedBy>
  <cp:revision>8</cp:revision>
  <dcterms:created xsi:type="dcterms:W3CDTF">2025-10-30T05:01:39Z</dcterms:created>
  <dcterms:modified xsi:type="dcterms:W3CDTF">2025-11-18T12:07:58Z</dcterms:modified>
</cp:coreProperties>
</file>